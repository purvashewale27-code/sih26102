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Georgia Bold Italics" charset="1" panose="02040802050405090203"/>
      <p:regular r:id="rId15"/>
    </p:embeddedFont>
    <p:embeddedFont>
      <p:font typeface="RoxboroughCF Bold" charset="1" panose="00000800000000000000"/>
      <p:regular r:id="rId16"/>
    </p:embeddedFont>
    <p:embeddedFont>
      <p:font typeface="RoxboroughCF" charset="1" panose="00000500000000000000"/>
      <p:regular r:id="rId17"/>
    </p:embeddedFont>
    <p:embeddedFont>
      <p:font typeface="Tahoma Bold" charset="1" panose="020B0804030504040204"/>
      <p:regular r:id="rId18"/>
    </p:embeddedFont>
    <p:embeddedFont>
      <p:font typeface="RoxboroughCF Bold Italics" charset="1" panose="00000800000000000000"/>
      <p:regular r:id="rId19"/>
    </p:embeddedFont>
    <p:embeddedFont>
      <p:font typeface="Times New Roman Bold" charset="1" panose="02020803070505020304"/>
      <p:regular r:id="rId20"/>
    </p:embeddedFont>
    <p:embeddedFont>
      <p:font typeface="Trebuchet MS" charset="1" panose="020B0603020202020204"/>
      <p:regular r:id="rId21"/>
    </p:embeddedFont>
    <p:embeddedFont>
      <p:font typeface="Dekko" charset="1" panose="00000500000000000000"/>
      <p:regular r:id="rId22"/>
    </p:embeddedFont>
    <p:embeddedFont>
      <p:font typeface="Calibri (MS)" charset="1" panose="020F0502020204030204"/>
      <p:regular r:id="rId23"/>
    </p:embeddedFont>
    <p:embeddedFont>
      <p:font typeface="Balmy" charset="1" panose="00000000000000000000"/>
      <p:regular r:id="rId24"/>
    </p:embeddedFont>
    <p:embeddedFont>
      <p:font typeface="Calibri (MS) Bold Italics" charset="1" panose="020F07020304040A0204"/>
      <p:regular r:id="rId25"/>
    </p:embeddedFont>
    <p:embeddedFont>
      <p:font typeface="Calibri (MS) Italics" charset="1" panose="020F05020202040A0204"/>
      <p:regular r:id="rId26"/>
    </p:embeddedFont>
    <p:embeddedFont>
      <p:font typeface="Cambria Bold" charset="1" panose="02040803050406030204"/>
      <p:regular r:id="rId27"/>
    </p:embeddedFont>
    <p:embeddedFont>
      <p:font typeface="Arial MT Pro" charset="1" panose="020B0502020202020204"/>
      <p:regular r:id="rId28"/>
    </p:embeddedFont>
    <p:embeddedFont>
      <p:font typeface="Arimo" charset="1" panose="020B0604020202020204"/>
      <p:regular r:id="rId29"/>
    </p:embeddedFont>
    <p:embeddedFont>
      <p:font typeface="Calibri (MS) Bold" charset="1" panose="020F07020304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jpeg" Type="http://schemas.openxmlformats.org/officeDocument/2006/relationships/image"/><Relationship Id="rId8" Target="https://onlinelibrary.wiley.com/doi/abs/10.1111/itor.12968?utm_source=chatgpt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30.jpe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11.jpe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ag.gov.in/webroot/uploads/download_audit_report/2010/West_Bengal_Civil_2010.pdf" TargetMode="External" Type="http://schemas.openxmlformats.org/officeDocument/2006/relationships/hyperlink"/><Relationship Id="rId2" Target="../media/image6.png" Type="http://schemas.openxmlformats.org/officeDocument/2006/relationships/image"/><Relationship Id="rId3" Target="../media/image31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https://www.mplads.gov.in/?utm_source=chatgpt.com" TargetMode="External" Type="http://schemas.openxmlformats.org/officeDocument/2006/relationships/hyperlink"/><Relationship Id="rId7" Target="https://www.mplads.gov.in/mplads/En/2010-mplads-guidelines.aspx?utm_source=chatgpt.com" TargetMode="External" Type="http://schemas.openxmlformats.org/officeDocument/2006/relationships/hyperlink"/><Relationship Id="rId8" Target="https://mplads.gov.in/mplads/AuthenticatedPages/Reports/Citizen/rptCitizenWorkRegister.aspx" TargetMode="External" Type="http://schemas.openxmlformats.org/officeDocument/2006/relationships/hyperlink"/><Relationship Id="rId9" Target="https://cag.gov.in/en/audit-report/details/2341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53130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t="0" r="-2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1658" y="-1070267"/>
            <a:ext cx="15544800" cy="3128962"/>
            <a:chOff x="0" y="0"/>
            <a:chExt cx="20726400" cy="4171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71950"/>
                  </a:lnTo>
                  <a:lnTo>
                    <a:pt x="0" y="4171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802" r="0" b="-4680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1658" y="2420722"/>
            <a:ext cx="10577312" cy="685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1"/>
              </a:lnSpc>
            </a:pPr>
          </a:p>
          <a:p>
            <a:pPr algn="just" marL="670654" indent="-223551" lvl="2">
              <a:lnSpc>
                <a:spcPts val="7623"/>
              </a:lnSpc>
              <a:buFont typeface="Arial"/>
              <a:buChar char="⚬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sz="3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26102</a:t>
            </a:r>
          </a:p>
          <a:p>
            <a:pPr algn="just" marL="607312" indent="-202437" lvl="2">
              <a:lnSpc>
                <a:spcPts val="6904"/>
              </a:lnSpc>
              <a:buFont typeface="Arial"/>
              <a:buChar char="⚬"/>
            </a:pPr>
            <a:r>
              <a:rPr lang="en-US" b="true" sz="28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28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Powered Public Fund Governance &amp; Anomaly Detection Platform For MPLADS/eSAKSHI</a:t>
            </a:r>
          </a:p>
          <a:p>
            <a:pPr algn="just" marL="670654" indent="-223551" lvl="2">
              <a:lnSpc>
                <a:spcPts val="7623"/>
              </a:lnSpc>
              <a:buFont typeface="Arial"/>
              <a:buChar char="⚬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just" marL="670654" indent="-223551" lvl="2">
              <a:lnSpc>
                <a:spcPts val="7623"/>
              </a:lnSpc>
              <a:buFont typeface="Arial"/>
              <a:buChar char="⚬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70654" indent="-223551" lvl="2">
              <a:lnSpc>
                <a:spcPts val="7623"/>
              </a:lnSpc>
              <a:buFont typeface="Arial"/>
              <a:buChar char="⚬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131328</a:t>
            </a:r>
          </a:p>
          <a:p>
            <a:pPr algn="just" marL="670654" indent="-223551" lvl="2">
              <a:lnSpc>
                <a:spcPts val="7623"/>
              </a:lnSpc>
              <a:buFont typeface="Arial"/>
              <a:buChar char="⚬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VigourX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723713" y="2840526"/>
            <a:ext cx="4805267" cy="5138309"/>
            <a:chOff x="0" y="0"/>
            <a:chExt cx="6407023" cy="68510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1015"/>
            </a:xfrm>
            <a:custGeom>
              <a:avLst/>
              <a:gdLst/>
              <a:ahLst/>
              <a:cxnLst/>
              <a:rect r="r" b="b" t="t" l="l"/>
              <a:pathLst>
                <a:path h="6851015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8" r="0" b="-1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76325" y="2281238"/>
            <a:ext cx="11039475" cy="5724525"/>
            <a:chOff x="0" y="0"/>
            <a:chExt cx="14719300" cy="763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19300" cy="7632700"/>
            </a:xfrm>
            <a:custGeom>
              <a:avLst/>
              <a:gdLst/>
              <a:ahLst/>
              <a:cxnLst/>
              <a:rect r="r" b="b" t="t" l="l"/>
              <a:pathLst>
                <a:path h="7632700" w="14719300">
                  <a:moveTo>
                    <a:pt x="0" y="0"/>
                  </a:moveTo>
                  <a:lnTo>
                    <a:pt x="14719300" y="0"/>
                  </a:lnTo>
                  <a:lnTo>
                    <a:pt x="14719300" y="7632700"/>
                  </a:lnTo>
                  <a:lnTo>
                    <a:pt x="0" y="763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5F7"/>
            </a:solidFill>
            <a:ln w="28575" cap="sq">
              <a:solidFill>
                <a:srgbClr val="09316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197290" y="8849839"/>
            <a:ext cx="6267450" cy="1180462"/>
            <a:chOff x="0" y="0"/>
            <a:chExt cx="8356600" cy="1573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56600" cy="1573911"/>
            </a:xfrm>
            <a:custGeom>
              <a:avLst/>
              <a:gdLst/>
              <a:ahLst/>
              <a:cxnLst/>
              <a:rect r="r" b="b" t="t" l="l"/>
              <a:pathLst>
                <a:path h="1573911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1573911"/>
                  </a:lnTo>
                  <a:lnTo>
                    <a:pt x="0" y="1573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5F7"/>
            </a:solidFill>
            <a:ln w="19050" cap="sq">
              <a:solidFill>
                <a:srgbClr val="0A0E1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319602" y="-369437"/>
            <a:ext cx="6248590" cy="2336864"/>
            <a:chOff x="0" y="0"/>
            <a:chExt cx="8331454" cy="31158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31454" cy="3115818"/>
            </a:xfrm>
            <a:custGeom>
              <a:avLst/>
              <a:gdLst/>
              <a:ahLst/>
              <a:cxnLst/>
              <a:rect r="r" b="b" t="t" l="l"/>
              <a:pathLst>
                <a:path h="3115818" w="8331454">
                  <a:moveTo>
                    <a:pt x="0" y="0"/>
                  </a:moveTo>
                  <a:lnTo>
                    <a:pt x="8331454" y="0"/>
                  </a:lnTo>
                  <a:lnTo>
                    <a:pt x="8331454" y="3115818"/>
                  </a:lnTo>
                  <a:lnTo>
                    <a:pt x="0" y="3115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696" r="0" b="-8369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15988" y="8114967"/>
            <a:ext cx="4599813" cy="2286667"/>
            <a:chOff x="0" y="0"/>
            <a:chExt cx="6133084" cy="30488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33084" cy="3048889"/>
            </a:xfrm>
            <a:custGeom>
              <a:avLst/>
              <a:gdLst/>
              <a:ahLst/>
              <a:cxnLst/>
              <a:rect r="r" b="b" t="t" l="l"/>
              <a:pathLst>
                <a:path h="3048889" w="6133084">
                  <a:moveTo>
                    <a:pt x="0" y="0"/>
                  </a:moveTo>
                  <a:lnTo>
                    <a:pt x="6133084" y="0"/>
                  </a:lnTo>
                  <a:lnTo>
                    <a:pt x="6133084" y="3048889"/>
                  </a:lnTo>
                  <a:lnTo>
                    <a:pt x="0" y="304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46" r="0" b="-74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61" y="2461127"/>
            <a:ext cx="6886127" cy="7526322"/>
            <a:chOff x="0" y="0"/>
            <a:chExt cx="9181503" cy="10035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81465" cy="10035159"/>
            </a:xfrm>
            <a:custGeom>
              <a:avLst/>
              <a:gdLst/>
              <a:ahLst/>
              <a:cxnLst/>
              <a:rect r="r" b="b" t="t" l="l"/>
              <a:pathLst>
                <a:path h="10035159" w="9181465">
                  <a:moveTo>
                    <a:pt x="0" y="0"/>
                  </a:moveTo>
                  <a:lnTo>
                    <a:pt x="9181465" y="0"/>
                  </a:lnTo>
                  <a:lnTo>
                    <a:pt x="9181465" y="10035159"/>
                  </a:lnTo>
                  <a:lnTo>
                    <a:pt x="0" y="10035159"/>
                  </a:lnTo>
                  <a:close/>
                </a:path>
              </a:pathLst>
            </a:custGeom>
            <a:solidFill>
              <a:srgbClr val="F4F5F7"/>
            </a:solidFill>
            <a:ln w="38100" cap="sq">
              <a:solidFill>
                <a:srgbClr val="09316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6293" y="2509561"/>
            <a:ext cx="6755873" cy="65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b="true" sz="2448" i="true" spc="306" u="sng">
                <a:solidFill>
                  <a:srgbClr val="1F497D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PROBLEM STATEMENT</a:t>
            </a:r>
          </a:p>
          <a:p>
            <a:pPr algn="l">
              <a:lnSpc>
                <a:spcPts val="2520"/>
              </a:lnSpc>
            </a:pPr>
            <a:r>
              <a:rPr lang="en-US" b="true" sz="2100" spc="-7">
                <a:solidFill>
                  <a:srgbClr val="093161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</a:t>
            </a:r>
            <a:r>
              <a:rPr lang="en-US" sz="2100" spc="-7">
                <a:solidFill>
                  <a:srgbClr val="093161"/>
                </a:solidFill>
                <a:latin typeface="RoxboroughCF"/>
                <a:ea typeface="RoxboroughCF"/>
                <a:cs typeface="RoxboroughCF"/>
                <a:sym typeface="RoxboroughCF"/>
              </a:rPr>
              <a:t>he existing MPLADS monitoring framework is predominantly post-facto, limiting the timely identification of financial irregularities, duplicate works, cost inflation, contractor concentration, and statutory non-compliance before public funds are committed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b="true" sz="2100" i="true" spc="-7" u="sng">
                <a:solidFill>
                  <a:srgbClr val="093161"/>
                </a:solidFill>
                <a:latin typeface="Tahoma Bold"/>
                <a:ea typeface="Tahoma Bold"/>
                <a:cs typeface="Tahoma Bold"/>
                <a:sym typeface="Tahoma Bold"/>
              </a:rPr>
              <a:t>What exactly have we built?</a:t>
            </a:r>
          </a:p>
          <a:p>
            <a:pPr algn="l">
              <a:lnSpc>
                <a:spcPts val="2400"/>
              </a:lnSpc>
            </a:pPr>
            <a:r>
              <a:rPr lang="en-US" b="true" sz="2000" i="true" spc="-8">
                <a:solidFill>
                  <a:srgbClr val="093161"/>
                </a:solidFill>
                <a:latin typeface="RoxboroughCF Bold Italics"/>
                <a:ea typeface="RoxboroughCF Bold Italics"/>
                <a:cs typeface="RoxboroughCF Bold Italics"/>
                <a:sym typeface="RoxboroughCF Bold Italics"/>
              </a:rPr>
              <a:t>  </a:t>
            </a:r>
            <a:r>
              <a:rPr lang="en-US" b="true" sz="2000" spc="-8">
                <a:solidFill>
                  <a:srgbClr val="093161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SATARK is an AI-powered preventive-vigilance layer that analyses work, financial, vendor, timeline and geospatial data to generate risk scores, explainable alerts and verification priorities.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159"/>
              </a:lnSpc>
            </a:pPr>
          </a:p>
          <a:p>
            <a:pPr algn="l">
              <a:lnSpc>
                <a:spcPts val="2760"/>
              </a:lnSpc>
            </a:pPr>
            <a:r>
              <a:rPr lang="en-US" b="true" sz="2300" i="true" spc="-10" u="sng">
                <a:solidFill>
                  <a:srgbClr val="093161"/>
                </a:solidFill>
                <a:latin typeface="Tahoma Bold"/>
                <a:ea typeface="Tahoma Bold"/>
                <a:cs typeface="Tahoma Bold"/>
                <a:sym typeface="Tahoma Bold"/>
              </a:rPr>
              <a:t>How is our solution technically different?</a:t>
            </a:r>
          </a:p>
          <a:p>
            <a:pPr algn="l">
              <a:lnSpc>
                <a:spcPts val="2398"/>
              </a:lnSpc>
            </a:pPr>
            <a:r>
              <a:rPr lang="en-US" sz="1998" spc="-7">
                <a:solidFill>
                  <a:srgbClr val="093161"/>
                </a:solidFill>
                <a:latin typeface="RoxboroughCF"/>
                <a:ea typeface="RoxboroughCF"/>
                <a:cs typeface="RoxboroughCF"/>
                <a:sym typeface="RoxboroughCF"/>
              </a:rPr>
              <a:t> </a:t>
            </a:r>
            <a:r>
              <a:rPr lang="en-US" b="true" sz="1998" spc="-7">
                <a:solidFill>
                  <a:srgbClr val="093161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SATARK combines rule-based MPLADS compliance, ML/NLP anomaly detection, vendor-pattern analysis and GIS/satellite-based spatial intelligence in one system—moving from simple monitoring to evidence-based risk prediction and prioritisation</a:t>
            </a:r>
            <a:r>
              <a:rPr lang="en-US" sz="1998" spc="-7">
                <a:solidFill>
                  <a:srgbClr val="093161"/>
                </a:solidFill>
                <a:latin typeface="RoxboroughCF"/>
                <a:ea typeface="RoxboroughCF"/>
                <a:cs typeface="RoxboroughCF"/>
                <a:sym typeface="RoxboroughCF"/>
              </a:rPr>
              <a:t>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652136" y="7915408"/>
            <a:ext cx="1109348" cy="943956"/>
          </a:xfrm>
          <a:custGeom>
            <a:avLst/>
            <a:gdLst/>
            <a:ahLst/>
            <a:cxnLst/>
            <a:rect r="r" b="b" t="t" l="l"/>
            <a:pathLst>
              <a:path h="943956" w="1109348">
                <a:moveTo>
                  <a:pt x="0" y="0"/>
                </a:moveTo>
                <a:lnTo>
                  <a:pt x="1109348" y="0"/>
                </a:lnTo>
                <a:lnTo>
                  <a:pt x="1109348" y="943956"/>
                </a:lnTo>
                <a:lnTo>
                  <a:pt x="0" y="943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23" r="0" b="-223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419656" y="2757856"/>
            <a:ext cx="10545447" cy="3009243"/>
            <a:chOff x="0" y="0"/>
            <a:chExt cx="1633766" cy="466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3766" cy="466210"/>
            </a:xfrm>
            <a:custGeom>
              <a:avLst/>
              <a:gdLst/>
              <a:ahLst/>
              <a:cxnLst/>
              <a:rect r="r" b="b" t="t" l="l"/>
              <a:pathLst>
                <a:path h="466210" w="1633766">
                  <a:moveTo>
                    <a:pt x="16885" y="0"/>
                  </a:moveTo>
                  <a:lnTo>
                    <a:pt x="1616880" y="0"/>
                  </a:lnTo>
                  <a:cubicBezTo>
                    <a:pt x="1621358" y="0"/>
                    <a:pt x="1625653" y="1779"/>
                    <a:pt x="1628820" y="4946"/>
                  </a:cubicBezTo>
                  <a:cubicBezTo>
                    <a:pt x="1631987" y="8112"/>
                    <a:pt x="1633766" y="12407"/>
                    <a:pt x="1633766" y="16885"/>
                  </a:cubicBezTo>
                  <a:lnTo>
                    <a:pt x="1633766" y="449325"/>
                  </a:lnTo>
                  <a:cubicBezTo>
                    <a:pt x="1633766" y="453803"/>
                    <a:pt x="1631987" y="458098"/>
                    <a:pt x="1628820" y="461265"/>
                  </a:cubicBezTo>
                  <a:cubicBezTo>
                    <a:pt x="1625653" y="464431"/>
                    <a:pt x="1621358" y="466210"/>
                    <a:pt x="1616880" y="466210"/>
                  </a:cubicBezTo>
                  <a:lnTo>
                    <a:pt x="16885" y="466210"/>
                  </a:lnTo>
                  <a:cubicBezTo>
                    <a:pt x="12407" y="466210"/>
                    <a:pt x="8112" y="464431"/>
                    <a:pt x="4946" y="461265"/>
                  </a:cubicBezTo>
                  <a:cubicBezTo>
                    <a:pt x="1779" y="458098"/>
                    <a:pt x="0" y="453803"/>
                    <a:pt x="0" y="449325"/>
                  </a:cubicBezTo>
                  <a:lnTo>
                    <a:pt x="0" y="16885"/>
                  </a:lnTo>
                  <a:cubicBezTo>
                    <a:pt x="0" y="12407"/>
                    <a:pt x="1779" y="8112"/>
                    <a:pt x="4946" y="4946"/>
                  </a:cubicBezTo>
                  <a:cubicBezTo>
                    <a:pt x="8112" y="1779"/>
                    <a:pt x="12407" y="0"/>
                    <a:pt x="16885" y="0"/>
                  </a:cubicBezTo>
                  <a:close/>
                </a:path>
              </a:pathLst>
            </a:custGeom>
            <a:blipFill>
              <a:blip r:embed="rId7"/>
              <a:stretch>
                <a:fillRect l="-38956" t="0" r="11293" b="-74341"/>
              </a:stretch>
            </a:blipFill>
          </p:spPr>
        </p:sp>
      </p:grpSp>
      <p:sp>
        <p:nvSpPr>
          <p:cNvPr name="TextBox 18" id="18" descr="$PPTXTitle"/>
          <p:cNvSpPr txBox="true"/>
          <p:nvPr/>
        </p:nvSpPr>
        <p:spPr>
          <a:xfrm rot="0">
            <a:off x="6853247" y="-26356"/>
            <a:ext cx="6159503" cy="89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/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5465" y="8276434"/>
            <a:ext cx="4991100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 spc="-55" u="sng">
                <a:solidFill>
                  <a:srgbClr val="1F497D"/>
                </a:solidFill>
                <a:latin typeface="Trebuchet MS"/>
                <a:ea typeface="Trebuchet MS"/>
                <a:cs typeface="Trebuchet MS"/>
                <a:sym typeface="Trebuchet MS"/>
              </a:rPr>
              <a:t>FOR BETTER UNDERSTANDING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56192" y="2364124"/>
            <a:ext cx="4312958" cy="77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b="true" sz="2454" i="true" spc="238" u="sng">
                <a:solidFill>
                  <a:srgbClr val="093161"/>
                </a:solidFill>
                <a:latin typeface="Georgia Bold Italics"/>
                <a:ea typeface="Georgia Bold Italics"/>
                <a:cs typeface="Georgia Bold Italics"/>
                <a:sym typeface="Georgia Bold Italics"/>
                <a:hlinkClick r:id="rId8" tooltip="https://onlinelibrary.wiley.com/doi/abs/10.1111/itor.12968?utm_source=chatgpt.com"/>
              </a:rPr>
              <a:t>PROPOSED SOLUTION</a:t>
            </a:r>
          </a:p>
          <a:p>
            <a:pPr algn="l">
              <a:lnSpc>
                <a:spcPts val="3444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733423" y="805729"/>
            <a:ext cx="6636382" cy="133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Powered Local Area Development</a:t>
            </a:r>
          </a:p>
          <a:p>
            <a:pPr algn="ctr">
              <a:lnSpc>
                <a:spcPts val="5400"/>
              </a:lnSpc>
            </a:pPr>
            <a:r>
              <a:rPr lang="en-US" b="true" sz="4500" spc="-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SATARK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7033" y="6205252"/>
            <a:ext cx="10538069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7">
                <a:solidFill>
                  <a:srgbClr val="093161"/>
                </a:solidFill>
                <a:latin typeface="RoxboroughCF"/>
                <a:ea typeface="RoxboroughCF"/>
                <a:cs typeface="RoxboroughCF"/>
                <a:sym typeface="RoxboroughCF"/>
              </a:rPr>
              <a:t> SATARK is designed for scalable, low-disruption deployment. It integrates with existing systems like eSAKSHI, uses authorised data, keeps officials in the decision loop, and enables phased deployment from pilot districts to wider adoption.</a:t>
            </a:r>
            <a:r>
              <a:rPr lang="en-US" sz="2400" spc="-7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05526" y="5776627"/>
            <a:ext cx="110109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-7" u="sng">
                <a:solidFill>
                  <a:srgbClr val="093161"/>
                </a:solidFill>
                <a:latin typeface="Tahoma Bold"/>
                <a:ea typeface="Tahoma Bold"/>
                <a:cs typeface="Tahoma Bold"/>
                <a:sym typeface="Tahoma Bold"/>
              </a:rPr>
              <a:t>SATARK  can realistically work at government scale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8" r="0" b="-1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69162" y="9276426"/>
            <a:ext cx="152400" cy="152400"/>
            <a:chOff x="0" y="0"/>
            <a:chExt cx="2032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393" t="0" r="-783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91103" y="1343339"/>
            <a:ext cx="446326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3099" spc="-18" u="sng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TECHNICAL APPROACH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75187" y="66894"/>
            <a:ext cx="2112645" cy="1323975"/>
          </a:xfrm>
          <a:custGeom>
            <a:avLst/>
            <a:gdLst/>
            <a:ahLst/>
            <a:cxnLst/>
            <a:rect r="r" b="b" t="t" l="l"/>
            <a:pathLst>
              <a:path h="1323975" w="2112645">
                <a:moveTo>
                  <a:pt x="0" y="0"/>
                </a:moveTo>
                <a:lnTo>
                  <a:pt x="2112645" y="0"/>
                </a:lnTo>
                <a:lnTo>
                  <a:pt x="211264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5" t="0" r="-45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5755" y="6324652"/>
            <a:ext cx="10303545" cy="2011490"/>
            <a:chOff x="0" y="0"/>
            <a:chExt cx="13738060" cy="26819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8047" cy="2681986"/>
            </a:xfrm>
            <a:custGeom>
              <a:avLst/>
              <a:gdLst/>
              <a:ahLst/>
              <a:cxnLst/>
              <a:rect r="r" b="b" t="t" l="l"/>
              <a:pathLst>
                <a:path h="2681986" w="13738047">
                  <a:moveTo>
                    <a:pt x="0" y="0"/>
                  </a:moveTo>
                  <a:lnTo>
                    <a:pt x="13738047" y="0"/>
                  </a:lnTo>
                  <a:lnTo>
                    <a:pt x="13738047" y="2681986"/>
                  </a:lnTo>
                  <a:lnTo>
                    <a:pt x="0" y="268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5706" r="0" b="-185783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983768" y="8498067"/>
            <a:ext cx="10347865" cy="1462197"/>
            <a:chOff x="0" y="0"/>
            <a:chExt cx="14114080" cy="19943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4081" cy="1994430"/>
            </a:xfrm>
            <a:custGeom>
              <a:avLst/>
              <a:gdLst/>
              <a:ahLst/>
              <a:cxnLst/>
              <a:rect r="r" b="b" t="t" l="l"/>
              <a:pathLst>
                <a:path h="1994430" w="14114081">
                  <a:moveTo>
                    <a:pt x="0" y="0"/>
                  </a:moveTo>
                  <a:lnTo>
                    <a:pt x="14114081" y="0"/>
                  </a:lnTo>
                  <a:lnTo>
                    <a:pt x="14114081" y="1994430"/>
                  </a:lnTo>
                  <a:lnTo>
                    <a:pt x="0" y="1994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3430" r="0" b="-158352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983768" y="1756781"/>
            <a:ext cx="10347865" cy="4330189"/>
          </a:xfrm>
          <a:custGeom>
            <a:avLst/>
            <a:gdLst/>
            <a:ahLst/>
            <a:cxnLst/>
            <a:rect r="r" b="b" t="t" l="l"/>
            <a:pathLst>
              <a:path h="4330189" w="10347865">
                <a:moveTo>
                  <a:pt x="0" y="0"/>
                </a:moveTo>
                <a:lnTo>
                  <a:pt x="10347865" y="0"/>
                </a:lnTo>
                <a:lnTo>
                  <a:pt x="10347865" y="4330189"/>
                </a:lnTo>
                <a:lnTo>
                  <a:pt x="0" y="4330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09650" y="1944595"/>
            <a:ext cx="5585041" cy="8215694"/>
            <a:chOff x="0" y="0"/>
            <a:chExt cx="7446721" cy="109542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46772" cy="10954258"/>
            </a:xfrm>
            <a:custGeom>
              <a:avLst/>
              <a:gdLst/>
              <a:ahLst/>
              <a:cxnLst/>
              <a:rect r="r" b="b" t="t" l="l"/>
              <a:pathLst>
                <a:path h="10954258" w="7446772">
                  <a:moveTo>
                    <a:pt x="0" y="0"/>
                  </a:moveTo>
                  <a:lnTo>
                    <a:pt x="7446772" y="0"/>
                  </a:lnTo>
                  <a:lnTo>
                    <a:pt x="7446772" y="10954258"/>
                  </a:lnTo>
                  <a:lnTo>
                    <a:pt x="0" y="10954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08" r="0" b="-100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72230" y="352644"/>
            <a:ext cx="1118873" cy="5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VigourX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4410685" y="-1686"/>
            <a:ext cx="8236582" cy="89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75641" y="1944595"/>
            <a:ext cx="390666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8"/>
              </a:lnSpc>
            </a:pPr>
            <a:r>
              <a:rPr lang="en-US" sz="3099" spc="-10" u="sng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PROTOTYPE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8201" y="34871"/>
            <a:ext cx="3373755" cy="1593532"/>
            <a:chOff x="0" y="0"/>
            <a:chExt cx="4498340" cy="2124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8" r="0" b="-1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48717" y="3917175"/>
            <a:ext cx="66675" cy="66675"/>
            <a:chOff x="0" y="0"/>
            <a:chExt cx="889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400" t="0" r="-783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48717" y="4766291"/>
            <a:ext cx="66675" cy="66675"/>
            <a:chOff x="0" y="0"/>
            <a:chExt cx="889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400" t="0" r="-7838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70456" y="5683548"/>
            <a:ext cx="66675" cy="66675"/>
            <a:chOff x="0" y="0"/>
            <a:chExt cx="88900" cy="88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400" t="0" r="-7838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21441" y="6600806"/>
            <a:ext cx="66675" cy="66675"/>
            <a:chOff x="0" y="0"/>
            <a:chExt cx="88900" cy="88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400" t="0" r="-7838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9582" y="7602836"/>
            <a:ext cx="66675" cy="66675"/>
            <a:chOff x="0" y="0"/>
            <a:chExt cx="88900" cy="88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0"/>
                  </a:moveTo>
                  <a:lnTo>
                    <a:pt x="88900" y="0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400" t="0" r="-78385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75187" y="66894"/>
            <a:ext cx="2112645" cy="1323975"/>
          </a:xfrm>
          <a:custGeom>
            <a:avLst/>
            <a:gdLst/>
            <a:ahLst/>
            <a:cxnLst/>
            <a:rect r="r" b="b" t="t" l="l"/>
            <a:pathLst>
              <a:path h="1323975" w="2112645">
                <a:moveTo>
                  <a:pt x="0" y="0"/>
                </a:moveTo>
                <a:lnTo>
                  <a:pt x="2112645" y="0"/>
                </a:lnTo>
                <a:lnTo>
                  <a:pt x="211264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5" t="0" r="-45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967459" y="1628404"/>
            <a:ext cx="5501484" cy="8078371"/>
            <a:chOff x="0" y="0"/>
            <a:chExt cx="8296897" cy="121831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96910" cy="12183164"/>
            </a:xfrm>
            <a:custGeom>
              <a:avLst/>
              <a:gdLst/>
              <a:ahLst/>
              <a:cxnLst/>
              <a:rect r="r" b="b" t="t" l="l"/>
              <a:pathLst>
                <a:path h="12183164" w="8296910">
                  <a:moveTo>
                    <a:pt x="0" y="0"/>
                  </a:moveTo>
                  <a:lnTo>
                    <a:pt x="8296910" y="0"/>
                  </a:lnTo>
                  <a:lnTo>
                    <a:pt x="8296910" y="12183164"/>
                  </a:lnTo>
                  <a:lnTo>
                    <a:pt x="0" y="12183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34" r="0" b="-1034"/>
              </a:stretch>
            </a:blipFill>
            <a:ln w="38100" cap="sq">
              <a:solidFill>
                <a:srgbClr val="2E6BAD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3515" y="1390869"/>
            <a:ext cx="11310017" cy="4227909"/>
          </a:xfrm>
          <a:custGeom>
            <a:avLst/>
            <a:gdLst/>
            <a:ahLst/>
            <a:cxnLst/>
            <a:rect r="r" b="b" t="t" l="l"/>
            <a:pathLst>
              <a:path h="4227909" w="11310017">
                <a:moveTo>
                  <a:pt x="0" y="0"/>
                </a:moveTo>
                <a:lnTo>
                  <a:pt x="11310017" y="0"/>
                </a:lnTo>
                <a:lnTo>
                  <a:pt x="11310017" y="4227909"/>
                </a:lnTo>
                <a:lnTo>
                  <a:pt x="0" y="42279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251" r="-2027" b="-41102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97376" y="6361728"/>
            <a:ext cx="11291473" cy="3345046"/>
            <a:chOff x="0" y="0"/>
            <a:chExt cx="2973886" cy="8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73886" cy="881000"/>
            </a:xfrm>
            <a:custGeom>
              <a:avLst/>
              <a:gdLst/>
              <a:ahLst/>
              <a:cxnLst/>
              <a:rect r="r" b="b" t="t" l="l"/>
              <a:pathLst>
                <a:path h="881000" w="2973886">
                  <a:moveTo>
                    <a:pt x="0" y="0"/>
                  </a:moveTo>
                  <a:lnTo>
                    <a:pt x="2973886" y="0"/>
                  </a:lnTo>
                  <a:lnTo>
                    <a:pt x="2973886" y="881000"/>
                  </a:lnTo>
                  <a:lnTo>
                    <a:pt x="0" y="881000"/>
                  </a:lnTo>
                  <a:close/>
                </a:path>
              </a:pathLst>
            </a:custGeom>
            <a:solidFill>
              <a:srgbClr val="F4F5F7"/>
            </a:solidFill>
            <a:ln w="28575" cap="sq">
              <a:solidFill>
                <a:srgbClr val="2E6BA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973886" cy="9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1" id="21" descr="$PPTXTitle"/>
          <p:cNvSpPr txBox="true"/>
          <p:nvPr/>
        </p:nvSpPr>
        <p:spPr>
          <a:xfrm rot="0">
            <a:off x="3583476" y="-22279"/>
            <a:ext cx="9934575" cy="89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2230" y="352644"/>
            <a:ext cx="1118873" cy="5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VigourX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04438" y="5790228"/>
            <a:ext cx="432817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-10">
                <a:solidFill>
                  <a:srgbClr val="093161"/>
                </a:solidFill>
                <a:latin typeface="Balmy"/>
                <a:ea typeface="Balmy"/>
                <a:cs typeface="Balmy"/>
                <a:sym typeface="Balmy"/>
              </a:rPr>
              <a:t>SATARK - Feasibility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1541" y="6831311"/>
            <a:ext cx="1100199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8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Technologically Viable </a:t>
            </a:r>
            <a:r>
              <a:rPr lang="en-US" sz="2700" i="true" spc="-8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- Leverages proven AI/ML , NLP and GIS technologies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3420" y="7326611"/>
            <a:ext cx="1120389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2"/>
              </a:lnSpc>
              <a:spcBef>
                <a:spcPct val="0"/>
              </a:spcBef>
            </a:pPr>
            <a:r>
              <a:rPr lang="en-US" b="true" sz="2752" i="true" spc="-9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Data -Driven</a:t>
            </a:r>
            <a:r>
              <a:rPr lang="en-US" sz="2752" i="true" spc="-9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- Integrates existing eSAKSHI , Treasury , CPWD/DSR and GIS 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3420" y="7977102"/>
            <a:ext cx="1122543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8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Scalable &amp;Cost-Effective</a:t>
            </a:r>
            <a:r>
              <a:rPr lang="en-US" sz="2700" i="true" spc="-8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-Supports phased deployment from pilot to nationwide implementation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1541" y="8936336"/>
            <a:ext cx="1114834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8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Human -Governed </a:t>
            </a:r>
            <a:r>
              <a:rPr lang="en-US" sz="2700" i="true" spc="-8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- AI identifies risk ,officals validate and take final decisions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5245922" y="167449"/>
            <a:ext cx="10276208" cy="64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A0E1A"/>
                </a:solidFill>
                <a:latin typeface="Cambria Bold"/>
                <a:ea typeface="Cambria Bold"/>
                <a:cs typeface="Cambria Bold"/>
                <a:sym typeface="Cambria Bold"/>
              </a:rPr>
              <a:t>IMPACTS AND BENEFITS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6404" y="2002536"/>
            <a:ext cx="384048" cy="384048"/>
            <a:chOff x="0" y="0"/>
            <a:chExt cx="512064" cy="512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56064" y="2002536"/>
            <a:ext cx="384048" cy="384048"/>
            <a:chOff x="0" y="0"/>
            <a:chExt cx="512064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" r="0" b="-4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56064" y="3840480"/>
            <a:ext cx="384048" cy="384048"/>
            <a:chOff x="0" y="0"/>
            <a:chExt cx="512064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534406" y="6268212"/>
            <a:ext cx="356616" cy="356616"/>
            <a:chOff x="0" y="0"/>
            <a:chExt cx="475488" cy="475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38844" y="6268212"/>
            <a:ext cx="356616" cy="356616"/>
            <a:chOff x="0" y="0"/>
            <a:chExt cx="475488" cy="475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872212" y="8259318"/>
            <a:ext cx="57150" cy="57150"/>
            <a:chOff x="0" y="0"/>
            <a:chExt cx="762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3020"/>
                  </a:moveTo>
                  <a:lnTo>
                    <a:pt x="43180" y="0"/>
                  </a:lnTo>
                  <a:lnTo>
                    <a:pt x="33020" y="0"/>
                  </a:lnTo>
                  <a:lnTo>
                    <a:pt x="0" y="33020"/>
                  </a:lnTo>
                  <a:lnTo>
                    <a:pt x="0" y="43180"/>
                  </a:lnTo>
                  <a:lnTo>
                    <a:pt x="33020" y="76200"/>
                  </a:lnTo>
                  <a:lnTo>
                    <a:pt x="43180" y="76200"/>
                  </a:lnTo>
                  <a:lnTo>
                    <a:pt x="76200" y="43180"/>
                  </a:lnTo>
                  <a:lnTo>
                    <a:pt x="76200" y="38100"/>
                  </a:lnTo>
                  <a:lnTo>
                    <a:pt x="76200" y="33020"/>
                  </a:lnTo>
                  <a:close/>
                </a:path>
              </a:pathLst>
            </a:custGeom>
            <a:blipFill>
              <a:blip r:embed="rId8"/>
              <a:stretch>
                <a:fillRect l="-78399" t="0" r="-78383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72212" y="7602093"/>
            <a:ext cx="57150" cy="57150"/>
            <a:chOff x="0" y="0"/>
            <a:chExt cx="762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3020"/>
                  </a:moveTo>
                  <a:lnTo>
                    <a:pt x="43180" y="0"/>
                  </a:lnTo>
                  <a:lnTo>
                    <a:pt x="33020" y="0"/>
                  </a:lnTo>
                  <a:lnTo>
                    <a:pt x="0" y="33020"/>
                  </a:lnTo>
                  <a:lnTo>
                    <a:pt x="0" y="43180"/>
                  </a:lnTo>
                  <a:lnTo>
                    <a:pt x="33020" y="76200"/>
                  </a:lnTo>
                  <a:lnTo>
                    <a:pt x="43180" y="76200"/>
                  </a:lnTo>
                  <a:lnTo>
                    <a:pt x="76200" y="43180"/>
                  </a:lnTo>
                  <a:lnTo>
                    <a:pt x="76200" y="38100"/>
                  </a:lnTo>
                  <a:lnTo>
                    <a:pt x="76200" y="33020"/>
                  </a:lnTo>
                  <a:close/>
                </a:path>
              </a:pathLst>
            </a:custGeom>
            <a:blipFill>
              <a:blip r:embed="rId8"/>
              <a:stretch>
                <a:fillRect l="-78399" t="0" r="-7838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43282" y="6268212"/>
            <a:ext cx="356616" cy="356616"/>
            <a:chOff x="0" y="0"/>
            <a:chExt cx="475488" cy="4754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047720" y="6268212"/>
            <a:ext cx="356616" cy="356616"/>
            <a:chOff x="0" y="0"/>
            <a:chExt cx="475488" cy="4754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75187" y="66894"/>
            <a:ext cx="2112645" cy="1323975"/>
          </a:xfrm>
          <a:custGeom>
            <a:avLst/>
            <a:gdLst/>
            <a:ahLst/>
            <a:cxnLst/>
            <a:rect r="r" b="b" t="t" l="l"/>
            <a:pathLst>
              <a:path h="1323975" w="2112645">
                <a:moveTo>
                  <a:pt x="0" y="0"/>
                </a:moveTo>
                <a:lnTo>
                  <a:pt x="2112645" y="0"/>
                </a:lnTo>
                <a:lnTo>
                  <a:pt x="211264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5" t="0" r="-45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95260" y="2264077"/>
            <a:ext cx="17097480" cy="8008269"/>
            <a:chOff x="0" y="0"/>
            <a:chExt cx="19361615" cy="90687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361615" cy="9068816"/>
            </a:xfrm>
            <a:custGeom>
              <a:avLst/>
              <a:gdLst/>
              <a:ahLst/>
              <a:cxnLst/>
              <a:rect r="r" b="b" t="t" l="l"/>
              <a:pathLst>
                <a:path h="9068816" w="19361615">
                  <a:moveTo>
                    <a:pt x="0" y="0"/>
                  </a:moveTo>
                  <a:lnTo>
                    <a:pt x="19361615" y="0"/>
                  </a:lnTo>
                  <a:lnTo>
                    <a:pt x="19361615" y="9068816"/>
                  </a:lnTo>
                  <a:lnTo>
                    <a:pt x="0" y="906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1165" r="0" b="-21165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772230" y="352644"/>
            <a:ext cx="1118873" cy="5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VigourX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89878" y="1314669"/>
            <a:ext cx="954619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“Smarter Vigilance • Safer Funds • Stronger Governance”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8" r="0" b="-1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5979" y="8594979"/>
            <a:ext cx="1692021" cy="1692021"/>
            <a:chOff x="0" y="0"/>
            <a:chExt cx="2256028" cy="2256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6028" cy="2256028"/>
            </a:xfrm>
            <a:custGeom>
              <a:avLst/>
              <a:gdLst/>
              <a:ahLst/>
              <a:cxnLst/>
              <a:rect r="r" b="b" t="t" l="l"/>
              <a:pathLst>
                <a:path h="2256028" w="2256028">
                  <a:moveTo>
                    <a:pt x="0" y="0"/>
                  </a:moveTo>
                  <a:lnTo>
                    <a:pt x="2256028" y="0"/>
                  </a:lnTo>
                  <a:lnTo>
                    <a:pt x="2256028" y="2256028"/>
                  </a:lnTo>
                  <a:lnTo>
                    <a:pt x="0" y="2256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 descr="$PPTXTitle"/>
          <p:cNvSpPr txBox="true"/>
          <p:nvPr/>
        </p:nvSpPr>
        <p:spPr>
          <a:xfrm rot="0">
            <a:off x="3084976" y="114929"/>
            <a:ext cx="10276208" cy="89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75187" y="66894"/>
            <a:ext cx="2112645" cy="1323975"/>
          </a:xfrm>
          <a:custGeom>
            <a:avLst/>
            <a:gdLst/>
            <a:ahLst/>
            <a:cxnLst/>
            <a:rect r="r" b="b" t="t" l="l"/>
            <a:pathLst>
              <a:path h="1323975" w="2112645">
                <a:moveTo>
                  <a:pt x="0" y="0"/>
                </a:moveTo>
                <a:lnTo>
                  <a:pt x="2112645" y="0"/>
                </a:lnTo>
                <a:lnTo>
                  <a:pt x="211264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5" t="0" r="-4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2230" y="352644"/>
            <a:ext cx="1118873" cy="5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VigourX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0412" y="1967789"/>
            <a:ext cx="13753462" cy="136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2600" spc="-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6" tooltip="https://www.mplads.gov.in/?utm_source=chatgpt.com"/>
              </a:rPr>
              <a:t>https://www.mplads.gov.in/?utm_source=chatgpt.com</a:t>
            </a:r>
            <a:r>
              <a:rPr lang="en-US" sz="2600" spc="-9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600" spc="-9" u="sng">
                <a:solidFill>
                  <a:srgbClr val="0000FF"/>
                </a:solidFill>
                <a:latin typeface="Arial MT Pro"/>
                <a:ea typeface="Arial MT Pro"/>
                <a:cs typeface="Arial MT Pro"/>
                <a:sym typeface="Arial MT Pro"/>
                <a:hlinkClick r:id="rId7" tooltip="https://www.mplads.gov.in/mplads/En/2010-mplads-guidelines.aspx?utm_source=chatgpt.com"/>
              </a:rPr>
              <a:t>https://www.mplads.gov.in/mplads/En/2010-mplads-guidelines.aspx?utm_source=chatgpt.com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4730" y="1728397"/>
            <a:ext cx="470273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b="true" sz="2799" u="sng">
                <a:solidFill>
                  <a:srgbClr val="093161"/>
                </a:solidFill>
                <a:latin typeface="Arial Bold"/>
                <a:ea typeface="Arial Bold"/>
                <a:cs typeface="Arial Bold"/>
                <a:sym typeface="Arial Bold"/>
              </a:rPr>
              <a:t>Official MPLADS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087" y="2158289"/>
            <a:ext cx="36538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MPLADS Official Portal: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087" y="2688507"/>
            <a:ext cx="31796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MPLADS Guidelines: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5412" y="3221907"/>
            <a:ext cx="34235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MPLADS Work Register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90412" y="3199686"/>
            <a:ext cx="14336792" cy="52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8" tooltip="https://mplads.gov.in/mplads/AuthenticatedPages/Reports/Citizen/rptCitizenWorkRegister.aspx"/>
              </a:rPr>
              <a:t>https://mplads.gov.in/mplads/AuthenticatedPages/Reports/Citizen/rptCitizenWorkRegister.aspx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4730" y="3745782"/>
            <a:ext cx="47192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Official eSAKSHI / MPLADS portal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3701" y="4860207"/>
            <a:ext cx="9461868" cy="53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8"/>
              </a:lnSpc>
            </a:pPr>
            <a:r>
              <a:rPr lang="en-US" b="true" sz="3099" spc="-10" u="sng">
                <a:solidFill>
                  <a:srgbClr val="0931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Papers — Fraud / Anomaly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572310" y="5610213"/>
            <a:ext cx="171682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1] CAG Performance Audit of MPLADS — fraud/irregularity/audit evidence CAG MPLADS Performance Audit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3934" y="6255538"/>
            <a:ext cx="1778327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9" tooltip="https://cag.gov.in/en/audit-report/details/2341?utm_source=chatgpt.com"/>
              </a:rPr>
              <a:t>https://cag.gov.in/en/audit-report/details/2341?utm_source=chatgpt.com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5412" y="7128269"/>
            <a:ext cx="1578149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2.] CAG State Audit – MPLADS Irregularities — concrete implementation irregularitiesCAG MPLADS Audit Evidence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5764" y="7905750"/>
            <a:ext cx="15771243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10" tooltip="https://cag.gov.in/webroot/uploads/download_audit_report/2010/West_Bengal_Civil_2010.pdf"/>
              </a:rPr>
              <a:t>https://cag.gov.in/webroot/uploads/download_audit_report/2010/West_Bengal_Civil_2010.pdf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DAHVC6Y1MMU</dc:identifier>
  <dcterms:modified xsi:type="dcterms:W3CDTF">2011-08-01T06:04:30Z</dcterms:modified>
  <cp:revision>1</cp:revision>
  <dc:title>PROPOSED SOLUTION</dc:title>
</cp:coreProperties>
</file>